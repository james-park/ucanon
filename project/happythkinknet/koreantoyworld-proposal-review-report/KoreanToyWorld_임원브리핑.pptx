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6446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KoreanToyWorld.com 제안서 평가 · K-Toy 그로스 디렉터 Advisory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686800" y="6446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 · 2026-06-22</a:t>
            </a:r>
            <a:endParaRPr lang="en-US" sz="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KoreanToyWorld.com 사업 제안서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D9E1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평가 및 실행 권고 — 임원 브리핑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77240" y="3703320"/>
            <a:ext cx="3840480" cy="0"/>
          </a:xfrm>
          <a:prstGeom prst="line">
            <a:avLst/>
          </a:prstGeom>
          <a:noFill/>
          <a:ln w="317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93192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 · K-Toy 그로스 디렉터 (Advisory)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방식 · 멀티에이전트(A1~A8) + 그로스 디렉터 합성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B9C4D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작성일 · 2026-06-22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5852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 결론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FBE9E9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판정:  보류 (Conditional Hold)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221284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 재설계(서브폴더 승계 + 성과형 수익 + LOI 선확보) 전제 시 → 조건부 추천 전환 가능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방향은 타당하다 </a:t>
            </a:r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— 커머스 자산을 미디어·공급측 광고로 확장하는 가설은 합리적이다.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그러나 광고 사업을 성립시키는 4대 급소가 통째로 비어 있다: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9319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069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공급측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광고주 수요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736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LOI 0건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37560" y="39319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4069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4736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리포팅 부재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4069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트래픽의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26480" y="4736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14.1K·하락세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915400" y="3931920"/>
            <a:ext cx="2606040" cy="1371600"/>
          </a:xfrm>
          <a:prstGeom prst="roundRect">
            <a:avLst>
              <a:gd name="adj" fmla="val 3333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406908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단위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경제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15400" y="473659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안전마진 0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설계 결함: 별도 도메인 결정이 유일하게 검증된 자산(SEO 권위)을 스스로 폐기한다.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근거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판정의 근거 3가지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188720" cy="132588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828800" y="16916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 전제가 외부 데이터로 반증됨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828800" y="21488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‘SEO 1위·Zero-cost’ 셀링포인트와 달리 koreantoyshop.com 실측은 월 14.1K·전월比 -32.6%, organic이 상위 3채널에 부재, 체류 12초. 구매 트래픽조차 빈약·하향세 — 광고가 팔리는 고관여 트래픽이 아니다.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154680"/>
            <a:ext cx="1188720" cy="132588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828800" y="32461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단가가 시장가 6~130배인데 노출수 0건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828800" y="37033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Top Ranking Gold(월 1,000만)는 추정 노출에서 실효 CPM 3.3만~33만원. 단가는 노출 분모 없이는 호가일 뿐. 광고주는 ROI를 증명받지 못한다.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709160"/>
            <a:ext cx="1188720" cy="1325880"/>
          </a:xfrm>
          <a:prstGeom prst="roundRect">
            <a:avLst>
              <a:gd name="adj" fmla="val 3846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5029200"/>
            <a:ext cx="1188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1828800" y="4800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안전마진 0 + 매출계획 내부모순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828800" y="525780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≈ 광고주 15곳 = 2027 목표와 동일(1~2곳 이탈 시 적자). 2029 ‘1,500+’는 ‘40% 성장(28개)’과 53배 충돌, SAM 25배 초과.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필수 요소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CSF 충족도 — 7개 중 6개 미충족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1645920"/>
                <a:gridCol w="505663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성공 필수 요소 (CSF)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충족도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처방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CSF-1 공급측 광고주 수요 사전검증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구축 전 LOI 10곳+ 선확보 게이트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CSF-2 SEO 권위의 신규 매체 승계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/world 서브디렉터리 승계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CSF-3 성과 측정·closed-loop 어트리뷰션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전환추적 셀프서브 대시보드 MVP화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CSF-4 단가의 CPM 정당화·노출보장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보장노출 공시 + 미달 크레딧 보상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CSF-5 대체재 대비 단위경제 우위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B886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자기 커머스 closed-loop 차별화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CSF-6 6개월 이후 지속운영 자금·인력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연간 운영비·인력 명시, P&amp;L 재작성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CSF-7 현실적 매출계획(SAM 정합)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미충족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 목표 28~30개로 재작성</a:t>
                      </a:r>
                      <a:endParaRPr lang="en-US" sz="12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집계: 충족 0  /  부분 1  /  미충족 6  →  광고 사업 성립의 최소 요건 미달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자산은 진짜다 — 문제는 ‘이전 가능성’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11274552" cy="914400"/>
        </p:xfrm>
        <a:graphic>
          <a:graphicData uri="http://schemas.openxmlformats.org/drawingml/2006/table">
            <a:tbl>
              <a:tblPr/>
              <a:tblGrid>
                <a:gridCol w="4846320"/>
                <a:gridCol w="2743200"/>
                <a:gridCol w="368503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강점 자산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 등급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미디어 사업 이전 가능성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2011 설립·15년 운영 경력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검증된 사실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87,000 SKU 데이터 (★최대 저평가 자산)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높음 — 단 미활용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제조사 15년 거래선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중 — 을→갑 전환 필요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Google ‘Korean Toy’ SEO 권위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출처불명 자기주장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 — 별도도메인 시 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CS 9.7/10 · 배송 2~5일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부분검증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낮음 — 커머스 지표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166360"/>
            <a:ext cx="11274552" cy="914400"/>
          </a:xfrm>
          <a:prstGeom prst="roundRect">
            <a:avLst>
              <a:gd name="adj" fmla="val 5000"/>
            </a:avLst>
          </a:prstGeom>
          <a:solidFill>
            <a:srgbClr val="FBE9E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85800" y="5285232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강점의 배치가 정확히 거꾸로다 — 이전성 최고 자산(데이터)은 방치했고, 셀링포인트로 내세운 자산(SEO)은 별도 도메인 결정으로 이전 경로를 스스로 끊었다.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리스크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심각도 ‘상’ 9건 — 대응책 0건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600200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6002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광고주 수요 미검증 (LOI 0건) → 매출계획 전제 붕괴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600200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9" name="Shape 7"/>
          <p:cNvSpPr/>
          <p:nvPr/>
        </p:nvSpPr>
        <p:spPr>
          <a:xfrm>
            <a:off x="6281928" y="1600200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0" name="Text 8"/>
          <p:cNvSpPr/>
          <p:nvPr/>
        </p:nvSpPr>
        <p:spPr>
          <a:xfrm>
            <a:off x="6428232" y="1600200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도메인 → SEO 권위 0 재시작, 6~12개월 트래픽 공백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2441448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566928" y="2441448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244144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트래픽 미달(실측 14.1K·하락세) → 광고 미판매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72200" y="2441448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81928" y="2441448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2441448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 측정·리포팅 부재 → 광고주 리텐션 붕괴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3282696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66928" y="3282696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19" name="Text 17"/>
          <p:cNvSpPr/>
          <p:nvPr/>
        </p:nvSpPr>
        <p:spPr>
          <a:xfrm>
            <a:off x="713232" y="328269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상위 단가 CPM 시장가 6~130배 → 고가 상품 판매 불가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72200" y="3282696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281928" y="3282696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2" name="Text 20"/>
          <p:cNvSpPr/>
          <p:nvPr/>
        </p:nvSpPr>
        <p:spPr>
          <a:xfrm>
            <a:off x="6428232" y="3282696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BEP 안전마진 0 → 1~2곳 이탈 시 즉시 적자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57200" y="4123944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4" name="Shape 22"/>
          <p:cNvSpPr/>
          <p:nvPr/>
        </p:nvSpPr>
        <p:spPr>
          <a:xfrm>
            <a:off x="566928" y="4123944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123944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‘수수료 3.5%’ 정의 충돌 → take-rate면 단위경제 붕괴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172200" y="4123944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6281928" y="4123944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28" name="Text 26"/>
          <p:cNvSpPr/>
          <p:nvPr/>
        </p:nvSpPr>
        <p:spPr>
          <a:xfrm>
            <a:off x="6428232" y="4123944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6개월 후 운영중단 → 콘텐츠·SEO 트래픽 즉락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965192"/>
            <a:ext cx="109728" cy="71323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0" name="Shape 28"/>
          <p:cNvSpPr/>
          <p:nvPr/>
        </p:nvSpPr>
        <p:spPr>
          <a:xfrm>
            <a:off x="566928" y="4965192"/>
            <a:ext cx="5394960" cy="713232"/>
          </a:xfrm>
          <a:prstGeom prst="rect">
            <a:avLst/>
          </a:prstGeom>
          <a:solidFill>
            <a:srgbClr val="EEF2F9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965192"/>
            <a:ext cx="5212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대체재 예산이탈(Amazon ROAS 3.66x) → 측정 닫힌 채널로 이동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제안서에는 리스크를 식별·대응하는 섹션 자체가 부재하다.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검증 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실효 CPM — 노출수 없는 정액은 ‘호가’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3776472"/>
                <a:gridCol w="1874520"/>
                <a:gridCol w="1874520"/>
                <a:gridCol w="1874520"/>
                <a:gridCol w="18745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상품 (월 단가)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3만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10만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노출 30만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Featured Product (10만)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방어 가능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Homepage Featured (100만)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33,333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10,000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3,333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886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10만+ 시 가능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Top Ranking Gold (1,000만)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333,333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100,000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33,333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판매 불가</a:t>
                      </a:r>
                      <a:endParaRPr lang="en-US" sz="13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114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시장 벤치마크 (단위: 원/CPM)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네이버 배너 ~2,500  ·  국내 DSP 5,000~15,000  ·  글로벌 B2B 디스플레이 약 11,000~55,000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5029200"/>
            <a:ext cx="11274552" cy="1005840"/>
          </a:xfrm>
          <a:prstGeom prst="roundRect">
            <a:avLst>
              <a:gd name="adj" fmla="val 4545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5138928"/>
            <a:ext cx="10789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Gold는 신규 매체의 현실적 노출(3~10만)에서 시장가의 6~130배. 정액제는 트래픽 리스크를 광고주가 전부 부담한다 → 노출보장·미달보상 없이는 갱신이 끊긴다.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정량 검증 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3개년 매출계획 — 2029년이 무너진다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3108960"/>
                <a:gridCol w="2286000"/>
                <a:gridCol w="2770632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연도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광고주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매출(만원)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광고주당 월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판정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2027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15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2,000~4,000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11~22만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E7D3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현실적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2028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6,000~9,600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25~40만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8860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ARPU 2배 근거 필요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2029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1,500+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전년比 +40%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333333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C0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물리적 불가능</a:t>
                      </a:r>
                      <a:endParaRPr lang="en-US" sz="13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297680"/>
            <a:ext cx="3611880" cy="1554480"/>
          </a:xfrm>
          <a:prstGeom prst="roundRect">
            <a:avLst>
              <a:gd name="adj" fmla="val 2941"/>
            </a:avLst>
          </a:prstGeom>
          <a:solidFill>
            <a:srgbClr val="EEF2F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44348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53배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640080" y="5120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‘1,500+’ vs ‘40% 성장(=28개)’ 내부 모순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4297680"/>
            <a:ext cx="3611880" cy="1554480"/>
          </a:xfrm>
          <a:prstGeom prst="roundRect">
            <a:avLst>
              <a:gd name="adj" fmla="val 2941"/>
            </a:avLst>
          </a:prstGeom>
          <a:solidFill>
            <a:srgbClr val="EEF2F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44348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25배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434840" y="5120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SAM(추정 60개사) 초과 — 모집단 자체를 넘어섬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46720" y="4297680"/>
            <a:ext cx="3611880" cy="1554480"/>
          </a:xfrm>
          <a:prstGeom prst="roundRect">
            <a:avLst>
              <a:gd name="adj" fmla="val 2941"/>
            </a:avLst>
          </a:prstGeom>
          <a:solidFill>
            <a:srgbClr val="EEF2F9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46720" y="4434840"/>
            <a:ext cx="3611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4.7%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8229600" y="5120640"/>
            <a:ext cx="3246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‘수수료 3.5%’가 take-rate면 연 고정비 회수율 → 붕괴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경쟁 분석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“제조사가 왜 굳이 여기에 광고비를?”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커머스 (Gmarket·자사몰)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0" y="164592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실판매·정산 닫힌 루프 제공 → 차별점 부재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69748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토이 미디어·유튜브 언박싱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52160" y="269748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권위 35년 vs 신규 0, 유효 CPM ~$73로 3~10배 비쌈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5120640" cy="914400"/>
          </a:xfrm>
          <a:prstGeom prst="roundRect">
            <a:avLst>
              <a:gd name="adj" fmla="val 5000"/>
            </a:avLst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490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Amazon·Meta·Google 광고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852160" y="3749040"/>
            <a:ext cx="5852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ROAS 3.66x·CPC $1.41 — 도달·측정 압도적 우위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4937760"/>
            <a:ext cx="11274552" cy="1097280"/>
          </a:xfrm>
          <a:prstGeom prst="roundRect">
            <a:avLst>
              <a:gd name="adj" fmla="val 4167"/>
            </a:avLst>
          </a:prstGeom>
          <a:solidFill>
            <a:srgbClr val="E8F1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유일한 차별 무기 = 자기 커머스 연계 closed-loop 어트리뷰션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" y="5468112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“콘텐츠 광고가 실제 KoreanToyShop 매출 X원을 창출했다”를 증명하면 Amazon·유튜브가 못 주는 것이 된다. 제안서는 이 무기를 방치했다.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성공 시나리오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 to Win — 7대 처방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4650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465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도메인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60020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별도 도메인 폐기 → /world 서브폴더로 SEO 권위 승계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4650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74650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수익모델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818120" y="160020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정액 → 성과형(CPC)+노출보장, 87K SKU 데이터 구독 주력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70662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70662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103120" y="256032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미디어→커머스 closed-loop 대시보드를 MVP 필수기능화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256032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270662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70662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채널믹스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818120" y="256032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언박서·뉴스레터·소액 퍼포먼스로 SEO 단일 의존 탈피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52044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66674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66674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광고주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103120" y="352044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‘선 LOI → 후 구축’ — LOI 10곳+를 의사결정 게이트로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72200" y="352044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366674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66674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글로벌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818120" y="352044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hreflang 다국어(영·중·일) 현지화로 검색 TAM 확장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457200" y="4480560"/>
            <a:ext cx="5486400" cy="841248"/>
          </a:xfrm>
          <a:prstGeom prst="roundRect">
            <a:avLst>
              <a:gd name="adj" fmla="val 5435"/>
            </a:avLst>
          </a:prstGeom>
          <a:solidFill>
            <a:srgbClr val="EEF2F9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626864"/>
            <a:ext cx="1417320" cy="548640"/>
          </a:xfrm>
          <a:prstGeom prst="roundRect">
            <a:avLst>
              <a:gd name="adj" fmla="val 6667"/>
            </a:avLst>
          </a:prstGeom>
          <a:solidFill>
            <a:srgbClr val="1F386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26864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재무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103120" y="4480560"/>
            <a:ext cx="3749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연간 운영비·인력 명시, 2029 목표 28~30개로 재작성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임팩트 큰 한 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 화폐화 + closed-loop 증명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45920"/>
            <a:ext cx="5532120" cy="4023360"/>
          </a:xfrm>
          <a:prstGeom prst="roundRect">
            <a:avLst>
              <a:gd name="adj" fmla="val 1136"/>
            </a:avLst>
          </a:prstGeom>
          <a:solidFill>
            <a:srgbClr val="EEF2F9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K-Toy 트렌드 인텔리전스 구독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85800" y="2331720"/>
            <a:ext cx="5074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87,000 SKU의 가격·검색·판매 데이터를 제조사·해외바이어 대상 </a:t>
            </a:r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월 구독형 리포트(월 50~150만)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패키징.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한계비용 0 (보유 데이터 재가공)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7947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‘월간 트렌드 변화’가 갱신 동인 내장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제조사 Pain(‘내 신제품 어디서 팔리나’)에 직결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80060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Gold 배너보다 지속성·ROI 증명성 우월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99632" y="1645920"/>
            <a:ext cx="5532120" cy="4023360"/>
          </a:xfrm>
          <a:prstGeom prst="roundRect">
            <a:avLst>
              <a:gd name="adj" fmla="val 1136"/>
            </a:avLst>
          </a:prstGeom>
          <a:solidFill>
            <a:srgbClr val="E8F1EA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828800"/>
            <a:ext cx="5074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closed-loop 성과 증명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28232" y="23317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미디어 노출 → KoreanToyShop 실제 구매로 이어진 기여 매출을 광고주 대시보드로 증명.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5392" y="32461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정액 광고의 ‘ROI 증명 불가’를 근본 해결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65392" y="37490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보유한 커머스 인프라와 정확히 시너지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65392" y="42519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Amazon·유튜브가 못 주는 유일한 해자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65392" y="47548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• 리텐션(재계약)을 만드는 핵심 장치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권고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검증 스프린트 — ‘만들기’ 전에 ‘검증’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0876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500만원(풀빌드의 10~16%)으로 3대 가정을 시험해, 3,000만원을 써도 되는 사업인지 데이터로 판정한다.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361188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148840"/>
            <a:ext cx="3611880" cy="5943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1 · W1–4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진단·준비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" y="34290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GA4/GSC 실측 추출 · 도메인 결정 · 요율표 v1 · 측정 설계 · LOI 영업 착수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51960" y="2148840"/>
            <a:ext cx="361188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2148840"/>
            <a:ext cx="3611880" cy="59436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2 · W5–9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5196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검증·파일럿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480560" y="34290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LOI 5~10건 클로징 · 데이터구독 샘플 · 콘텐츠/슬롯 파일럿 · P&amp;L 재작성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2148840"/>
            <a:ext cx="3611880" cy="310896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2148840"/>
            <a:ext cx="361188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214884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Phase 3 · W10–12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288036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종합·판정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31546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시나리오 모델링 · Go/No-Go 패킷 · 의사결정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5486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가장 중요한 단일 산출물 = 광고주 LOI. 안 나오면 그 자체가 가장 값진 NO-GO 신호(3,000만 보호).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의사결정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90일 차 Go / No-Go 게이트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0"/>
          </a:xfrm>
          <a:prstGeom prst="line">
            <a:avLst/>
          </a:prstGeom>
          <a:noFill/>
          <a:ln w="12700">
            <a:solidFill>
              <a:srgbClr val="D0D7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11274552" cy="1371600"/>
          </a:xfrm>
          <a:prstGeom prst="roundRect">
            <a:avLst>
              <a:gd name="adj" fmla="val 3333"/>
            </a:avLst>
          </a:prstGeom>
          <a:solidFill>
            <a:srgbClr val="E8F1EA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 조건 (전부 충족 시 풀빌드 착수)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2860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LOI 5건+ &amp; 평균 지불의향 ≥ 월 20만   ·   손익 임계 트래픽 경로 확인   ·   closed-loop 측정 작동   ·   재작성 P&amp;L 18개월 내 BEP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57200" y="338328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2E7D3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3383280"/>
            <a:ext cx="3611880" cy="7315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3832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85800" y="42976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풀빌드(서브폴더) + 12개월 성장계획 착수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51960" y="338328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B8860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51960" y="3383280"/>
            <a:ext cx="3611880" cy="7315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33832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CONDITIONAL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480560" y="42976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미충족 가정만 +30일 추가 검증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46720" y="3383280"/>
            <a:ext cx="3611880" cy="219456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0" y="3383280"/>
            <a:ext cx="3611880" cy="731520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0" y="3383280"/>
            <a:ext cx="3611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NO-GO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275320" y="4297680"/>
            <a:ext cx="3154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사업 재설계 또는 중단 — 3,000만 절감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59595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게이트가 제안서의 가장 큰 가치다 — 작은 베팅으로 큰 리스크를 판정한다.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3716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77240" y="182880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방향은 옳다. 순서가 틀렸다.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9E1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‘만들고 나서 광고주를 찾는’ 설계를 ‘광고주를 검증하고 측정을 깐 뒤 자산을 승계해 만드는’ 역순으로 뒤집으면, 같은 자산으로 성공 확률이 크게 오른다.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3657600" cy="0"/>
          </a:xfrm>
          <a:prstGeom prst="line">
            <a:avLst/>
          </a:prstGeom>
          <a:noFill/>
          <a:ln w="254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605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즉시 실행 (P0)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52628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9E1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 광고주 LOI 10곳+ 선확보      ②  /world 서브폴더 전환 결정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9E1F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 ‘수수료 3.5%’ 정의 확정         ④  GA4/GSC 실측 데이터 제출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C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K-Toy 그로스 디렉터 Advisory · 2026-06-22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2026-06-21T17:46:37Z</dcterms:created>
  <dcterms:modified xsi:type="dcterms:W3CDTF">2026-06-21T17:46:37Z</dcterms:modified>
</cp:coreProperties>
</file>